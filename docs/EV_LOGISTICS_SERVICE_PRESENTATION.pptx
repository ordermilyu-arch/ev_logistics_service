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08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일일 물류 배송 조회 서비스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51460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B2DAF6"/>
                </a:solidFill>
                <a:latin typeface="맑은 고딕"/>
              </a:defRPr>
            </a:pPr>
            <a:r>
              <a:t>전기 물류 트럭 배차 · 구간별 에너지 예측 · 충전 계획 · 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349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부산항 신선대 컨테이너터미널 → 한진인천컨테이너터미널(HJIT)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06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8CA6BF"/>
                </a:solidFill>
                <a:latin typeface="맑은 고딕"/>
              </a:defRPr>
            </a:pPr>
            <a:r>
              <a:t>Service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E1F35"/>
                </a:solidFill>
                <a:latin typeface="맑은 고딕"/>
              </a:defRPr>
            </a:pPr>
            <a:r>
              <a:t>1. 서비스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06C7A"/>
                </a:solidFill>
                <a:latin typeface="맑은 고딕"/>
              </a:defRPr>
            </a:pPr>
            <a:r>
              <a:t>운행 전에 차량·배터리·충전·도착 정보를 한 번에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06C7A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0E1F35"/>
                </a:solidFill>
                <a:latin typeface="맑은 고딕"/>
              </a:defRPr>
            </a:pPr>
            <a:r>
              <a:t>사원번호와 배차일만으로 당일 차량·화물·배터리 상태를 조회</a:t>
            </a:r>
          </a:p>
          <a:p>
            <a:pPr>
              <a:spcAft>
                <a:spcPts val="1500"/>
              </a:spcAft>
              <a:defRPr sz="1900">
                <a:solidFill>
                  <a:srgbClr val="0E1F35"/>
                </a:solidFill>
                <a:latin typeface="맑은 고딕"/>
              </a:defRPr>
            </a:pPr>
            <a:r>
              <a:t>465.6km 고정 노선의 17개 구간을 각각 계산해 소비에너지와 SOC 예측</a:t>
            </a:r>
          </a:p>
          <a:p>
            <a:pPr>
              <a:spcAft>
                <a:spcPts val="1500"/>
              </a:spcAft>
              <a:defRPr sz="1900">
                <a:solidFill>
                  <a:srgbClr val="0E1F35"/>
                </a:solidFill>
                <a:latin typeface="맑은 고딕"/>
              </a:defRPr>
            </a:pPr>
            <a:r>
              <a:t>안전 SOC 10%를 기준으로 충전 필요 구간과 예상 도착시간 제공</a:t>
            </a:r>
          </a:p>
          <a:p>
            <a:pPr>
              <a:spcAft>
                <a:spcPts val="1500"/>
              </a:spcAft>
              <a:defRPr sz="1900">
                <a:solidFill>
                  <a:srgbClr val="0E1F35"/>
                </a:solidFill>
                <a:latin typeface="맑은 고딕"/>
              </a:defRPr>
            </a:pPr>
            <a:r>
              <a:t>운영 결과는 일일 배차기록 CSV·Excel로 저장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E1F35"/>
                </a:solidFill>
                <a:latin typeface="맑은 고딕"/>
              </a:defRPr>
            </a:pPr>
            <a:r>
              <a:t>2. 사용자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06C7A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74519"/>
            <a:ext cx="20116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74519"/>
            <a:ext cx="73152" cy="1874519"/>
          </a:xfrm>
          <a:prstGeom prst="rect">
            <a:avLst/>
          </a:prstGeom>
          <a:solidFill>
            <a:srgbClr val="2DB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0391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41448"/>
            <a:ext cx="16459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사원번호·배차일 조회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5146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670C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1874519"/>
            <a:ext cx="20116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34639" y="1874519"/>
            <a:ext cx="73152" cy="1874519"/>
          </a:xfrm>
          <a:prstGeom prst="rect">
            <a:avLst/>
          </a:prstGeom>
          <a:solidFill>
            <a:srgbClr val="2DB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1" y="20391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1" y="2441448"/>
            <a:ext cx="16459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차량·화물·운행조건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5146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670C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1874519"/>
            <a:ext cx="20116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59" y="1874519"/>
            <a:ext cx="73152" cy="1874519"/>
          </a:xfrm>
          <a:prstGeom prst="rect">
            <a:avLst/>
          </a:prstGeom>
          <a:solidFill>
            <a:srgbClr val="2DB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6672" y="20391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6672" y="2441448"/>
            <a:ext cx="16459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구간별 에너지·SOC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5146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670C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1874519"/>
            <a:ext cx="20116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1874519"/>
            <a:ext cx="73152" cy="1874519"/>
          </a:xfrm>
          <a:prstGeom prst="rect">
            <a:avLst/>
          </a:prstGeom>
          <a:solidFill>
            <a:srgbClr val="239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8392" y="20391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8392" y="2441448"/>
            <a:ext cx="16459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충전·도착시간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59" y="25146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670C0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29800" y="1874519"/>
            <a:ext cx="20116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829800" y="1874519"/>
            <a:ext cx="73152" cy="1874519"/>
          </a:xfrm>
          <a:prstGeom prst="rect">
            <a:avLst/>
          </a:prstGeom>
          <a:solidFill>
            <a:srgbClr val="239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0112" y="20391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STEP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0112" y="2441448"/>
            <a:ext cx="16459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일일 배차기록 저장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06C7A"/>
                </a:solidFill>
                <a:latin typeface="맑은 고딕"/>
              </a:defRPr>
            </a:pPr>
            <a:r>
              <a:t>조회 중에는 사원번호와 배차일을 잠그고, 메인화면 복귀 시 입력 상태를 초기화합니다.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E1F35"/>
                </a:solidFill>
                <a:latin typeface="맑은 고딕"/>
              </a:defRPr>
            </a:pPr>
            <a:r>
              <a:t>3. 입력값과 자동 배차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06C7A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35204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73152" cy="1325880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581912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사용자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984248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1F35"/>
                </a:solidFill>
                <a:latin typeface="맑은 고딕"/>
              </a:defRPr>
            </a:pPr>
            <a:r>
              <a:t>사원번호 8자리 · 배차일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5204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417320"/>
            <a:ext cx="73152" cy="1325880"/>
          </a:xfrm>
          <a:prstGeom prst="rect">
            <a:avLst/>
          </a:prstGeom>
          <a:solidFill>
            <a:srgbClr val="2DB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581912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운행조건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1984248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1F35"/>
                </a:solidFill>
                <a:latin typeface="맑은 고딕"/>
              </a:defRPr>
            </a:pPr>
            <a:r>
              <a:t>차량 · 화물 박스 · 속도 · HVAC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17320"/>
            <a:ext cx="35204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417320"/>
            <a:ext cx="73152" cy="1325880"/>
          </a:xfrm>
          <a:prstGeom prst="rect">
            <a:avLst/>
          </a:prstGeom>
          <a:solidFill>
            <a:srgbClr val="239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1581912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자동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1984248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1F35"/>
                </a:solidFill>
                <a:latin typeface="맑은 고딕"/>
              </a:defRPr>
            </a:pPr>
            <a:r>
              <a:t>SOC · 운전성향 · 날씨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154680"/>
            <a:ext cx="10241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화물: 1박스 10kg, 최초 3~10박스 자동 배정</a:t>
            </a:r>
          </a:p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속도: 기본 100km/h, 5km/h 단위 조정</a:t>
            </a:r>
          </a:p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출발 SOC: 50~90% 중 5% 단위 자동 생성</a:t>
            </a:r>
          </a:p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같은 사원번호와 배차일은 동일한 결과를 재현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E1F35"/>
                </a:solidFill>
                <a:latin typeface="맑은 고딕"/>
              </a:defRPr>
            </a:pPr>
            <a:r>
              <a:t>4. 조회 결과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06C7A"/>
                </a:solidFill>
                <a:latin typeface="맑은 고딕"/>
              </a:defRPr>
            </a:pPr>
            <a:r>
              <a:t>운영자가 먼저 확인해야 할 정보를 한 화면에 배치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06C7A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257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73152" cy="960120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9047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사원번호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92807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12345678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257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73152" cy="960120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49047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차량번호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1892807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7호차 (Volvo FH)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560320"/>
            <a:ext cx="5257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2560320"/>
            <a:ext cx="73152" cy="960120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72491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출발 배터리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2724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65%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60320"/>
            <a:ext cx="5257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560320"/>
            <a:ext cx="73152" cy="960120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272491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화물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312724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8박스 / 80kg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794760"/>
            <a:ext cx="5257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794760"/>
            <a:ext cx="73152" cy="960120"/>
          </a:xfrm>
          <a:prstGeom prst="rect">
            <a:avLst/>
          </a:prstGeom>
          <a:solidFill>
            <a:srgbClr val="239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95935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충전 휴게소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36168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A ~ B 구간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794760"/>
            <a:ext cx="5257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794760"/>
            <a:ext cx="73152" cy="960120"/>
          </a:xfrm>
          <a:prstGeom prst="rect">
            <a:avLst/>
          </a:prstGeom>
          <a:solidFill>
            <a:srgbClr val="239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395935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운행시간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436168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10:00 → 16:42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029200"/>
            <a:ext cx="5257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" y="5029200"/>
            <a:ext cx="73152" cy="960120"/>
          </a:xfrm>
          <a:prstGeom prst="rect">
            <a:avLst/>
          </a:prstGeom>
          <a:solidFill>
            <a:srgbClr val="239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19379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예상 소비량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559612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537.1kWh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5029200"/>
            <a:ext cx="52578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5029200"/>
            <a:ext cx="73152" cy="960120"/>
          </a:xfrm>
          <a:prstGeom prst="rect">
            <a:avLst/>
          </a:prstGeom>
          <a:solidFill>
            <a:srgbClr val="239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28232" y="519379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예측 신뢰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8232" y="559612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1F35"/>
                </a:solidFill>
                <a:latin typeface="맑은 고딕"/>
              </a:defRPr>
            </a:pPr>
            <a:r>
              <a:t>R² 94.2% / ±0.89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E1F35"/>
                </a:solidFill>
                <a:latin typeface="맑은 고딕"/>
              </a:defRPr>
            </a:pPr>
            <a:r>
              <a:t>5. 머신러닝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06C7A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73152" cy="1325880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8191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84248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E1F35"/>
                </a:solidFill>
                <a:latin typeface="맑은 고딕"/>
              </a:defRPr>
            </a:pPr>
            <a:r>
              <a:t>Linear Regression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4290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417320"/>
            <a:ext cx="73152" cy="1325880"/>
          </a:xfrm>
          <a:prstGeom prst="rect">
            <a:avLst/>
          </a:prstGeom>
          <a:solidFill>
            <a:srgbClr val="239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8191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설명력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1984248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E1F35"/>
                </a:solidFill>
                <a:latin typeface="맑은 고딕"/>
              </a:defRPr>
            </a:pPr>
            <a:r>
              <a:t>R² 94.17%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4290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417320"/>
            <a:ext cx="73152" cy="1325880"/>
          </a:xfrm>
          <a:prstGeom prst="rect">
            <a:avLst/>
          </a:prstGeom>
          <a:solidFill>
            <a:srgbClr val="2DB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158191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예상 오차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984248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E1F35"/>
                </a:solidFill>
                <a:latin typeface="맑은 고딕"/>
              </a:defRPr>
            </a:pPr>
            <a:r>
              <a:t>RMSE ±0.887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15468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기본 변수: 속도, 화물량, 온도, HVAC, 경사, 운전성향, 타이어 공기압, 거리</a:t>
            </a:r>
          </a:p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파생변수: 속도 제곱, 온도 편차, 적재량×경사, HVAC×온도 등</a:t>
            </a:r>
          </a:p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StandardScaler 적용 후 저장 모델을 재사용해 서비스 시작시간 단축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E1F35"/>
                </a:solidFill>
                <a:latin typeface="맑은 고딕"/>
              </a:defRPr>
            </a:pPr>
            <a:r>
              <a:t>6. 구간별 거리·경사 에너지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06C7A"/>
                </a:solidFill>
                <a:latin typeface="맑은 고딕"/>
              </a:defRPr>
            </a:pPr>
            <a:r>
              <a:t>전체 평균으로 합치지 않고 17개 구간을 각각 예측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06C7A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휴게소 사이 구간마다 거리와 평균경사를 모델에 개별 입력</a:t>
            </a:r>
          </a:p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구간별 kWh/100km → 구간 소비에너지 → SOC 순차 차감</a:t>
            </a:r>
          </a:p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충전 가능 휴게소와 안전 SOC를 함께 검토해 충전 정차 판단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17320"/>
            <a:ext cx="2240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29400" y="1417320"/>
            <a:ext cx="73152" cy="1188720"/>
          </a:xfrm>
          <a:prstGeom prst="rect">
            <a:avLst/>
          </a:prstGeom>
          <a:solidFill>
            <a:srgbClr val="2DB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9712" y="1581912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계산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39712" y="1984248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1F35"/>
                </a:solidFill>
                <a:latin typeface="맑은 고딕"/>
              </a:defRPr>
            </a:pPr>
            <a:r>
              <a:t>17개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417320"/>
            <a:ext cx="2240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1417320"/>
            <a:ext cx="73152" cy="1188720"/>
          </a:xfrm>
          <a:prstGeom prst="rect">
            <a:avLst/>
          </a:prstGeom>
          <a:solidFill>
            <a:srgbClr val="2DB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4312" y="1581912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노선 거리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54312" y="1984248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1F35"/>
                </a:solidFill>
                <a:latin typeface="맑은 고딕"/>
              </a:defRPr>
            </a:pPr>
            <a:r>
              <a:t>465.6km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2926080"/>
            <a:ext cx="2240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29400" y="2926080"/>
            <a:ext cx="73152" cy="1188720"/>
          </a:xfrm>
          <a:prstGeom prst="rect">
            <a:avLst/>
          </a:prstGeom>
          <a:solidFill>
            <a:srgbClr val="239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3090672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경사 범위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9712" y="3493008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1F35"/>
                </a:solidFill>
                <a:latin typeface="맑은 고딕"/>
              </a:defRPr>
            </a:pPr>
            <a:r>
              <a:t>-0.279~0.600%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2926080"/>
            <a:ext cx="2240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2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0" y="2926080"/>
            <a:ext cx="73152" cy="1188720"/>
          </a:xfrm>
          <a:prstGeom prst="rect">
            <a:avLst/>
          </a:prstGeom>
          <a:solidFill>
            <a:srgbClr val="239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090672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6C7A"/>
                </a:solidFill>
                <a:latin typeface="맑은 고딕"/>
              </a:defRPr>
            </a:pPr>
            <a:r>
              <a:t>테스트 소비량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3493008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1F35"/>
                </a:solidFill>
                <a:latin typeface="맑은 고딕"/>
              </a:defRPr>
            </a:pPr>
            <a:r>
              <a:t>약 537.1kWh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06C7A"/>
                </a:solidFill>
                <a:latin typeface="맑은 고딕"/>
              </a:defRPr>
            </a:pPr>
            <a:r>
              <a:t>경사도는 Copernicus DEM 지점 고도 차이로 산출한 구간 평균값이며, 순간 최대경사와는 다를 수 있습니다.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E1F35"/>
                </a:solidFill>
                <a:latin typeface="맑은 고딕"/>
              </a:defRPr>
            </a:pPr>
            <a:r>
              <a:t>7. SOC·충전·도착시간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06C7A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0E1F35"/>
                </a:solidFill>
                <a:latin typeface="맑은 고딕"/>
              </a:defRPr>
            </a:pPr>
            <a:r>
              <a:t>출발: 배차일 오전 10시, SOC 50~90% 자동 배정</a:t>
            </a:r>
          </a:p>
          <a:p>
            <a:pPr>
              <a:spcAft>
                <a:spcPts val="1500"/>
              </a:spcAft>
              <a:defRPr sz="1800">
                <a:solidFill>
                  <a:srgbClr val="0E1F35"/>
                </a:solidFill>
                <a:latin typeface="맑은 고딕"/>
              </a:defRPr>
            </a:pPr>
            <a:r>
              <a:t>안전 기준: 구간 도착 후 최소 SOC 10% 유지</a:t>
            </a:r>
          </a:p>
          <a:p>
            <a:pPr>
              <a:spcAft>
                <a:spcPts val="1500"/>
              </a:spcAft>
              <a:defRPr sz="1800">
                <a:solidFill>
                  <a:srgbClr val="0E1F35"/>
                </a:solidFill>
                <a:latin typeface="맑은 고딕"/>
              </a:defRPr>
            </a:pPr>
            <a:r>
              <a:t>충전 필요 시: 이용 가능한 휴게소에서 목표 SOC 100%</a:t>
            </a:r>
          </a:p>
          <a:p>
            <a:pPr>
              <a:spcAft>
                <a:spcPts val="1500"/>
              </a:spcAft>
              <a:defRPr sz="1800">
                <a:solidFill>
                  <a:srgbClr val="0E1F35"/>
                </a:solidFill>
                <a:latin typeface="맑은 고딕"/>
              </a:defRPr>
            </a:pPr>
            <a:r>
              <a:t>충전시간: 충전량 ÷ 충전출력 ÷ 효율 92%</a:t>
            </a:r>
          </a:p>
          <a:p>
            <a:pPr>
              <a:spcAft>
                <a:spcPts val="1500"/>
              </a:spcAft>
              <a:defRPr sz="1800">
                <a:solidFill>
                  <a:srgbClr val="0E1F35"/>
                </a:solidFill>
                <a:latin typeface="맑은 고딕"/>
              </a:defRPr>
            </a:pPr>
            <a:r>
              <a:t>총 소요시간: 주행시간 + 충전시간 + 진입·연결·출차 7분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E1F35"/>
                </a:solidFill>
                <a:latin typeface="맑은 고딕"/>
              </a:defRPr>
            </a:pPr>
            <a:r>
              <a:t>8. 노선 경사 데이터 조사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06C7A"/>
                </a:solidFill>
                <a:latin typeface="맑은 고딕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기존 노선 CSV에는 거리·충전기 정보만 있고 경사·고도 데이터가 없었음</a:t>
            </a:r>
          </a:p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위치: OpenStreetMap Nominatim / 고도: Copernicus DEM via Open-Meteo</a:t>
            </a:r>
          </a:p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서울방향 휴게소 좌표를 재검증하고 출발·도착 주소 기준으로 보정</a:t>
            </a:r>
          </a:p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공식 도로 종단선형을 찾지 못해 지점 고도 차이 기반 평균경사 적용</a:t>
            </a:r>
          </a:p>
          <a:p>
            <a:pPr>
              <a:spcAft>
                <a:spcPts val="1500"/>
              </a:spcAft>
              <a:defRPr sz="1700">
                <a:solidFill>
                  <a:srgbClr val="0E1F35"/>
                </a:solidFill>
                <a:latin typeface="맑은 고딕"/>
              </a:defRPr>
            </a:pPr>
            <a:r>
              <a:t>향후 실제 GPS·고도 로그 또는 도로 중심선 종단 프로파일로 교체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E1F35"/>
                </a:solidFill>
                <a:latin typeface="맑은 고딕"/>
              </a:defRPr>
            </a:pPr>
            <a:r>
              <a:t>9. 운영 화면과 기록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06C7A"/>
                </a:solidFill>
                <a:latin typeface="맑은 고딕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0E1F35"/>
                </a:solidFill>
                <a:latin typeface="맑은 고딕"/>
              </a:defRPr>
            </a:pPr>
            <a:r>
              <a:t>핵심 결과 아래에 배차 상세정보 · 에너지·충전 정보 · 노선 정보 · 충전소 정보 제공</a:t>
            </a:r>
          </a:p>
          <a:p>
            <a:pPr>
              <a:spcAft>
                <a:spcPts val="1500"/>
              </a:spcAft>
              <a:defRPr sz="1800">
                <a:solidFill>
                  <a:srgbClr val="0E1F35"/>
                </a:solidFill>
                <a:latin typeface="맑은 고딕"/>
              </a:defRPr>
            </a:pPr>
            <a:r>
              <a:t>일일 배차기록: 사원번호 · 차량번호 · 배차 허가 여부만 저장</a:t>
            </a:r>
          </a:p>
          <a:p>
            <a:pPr>
              <a:spcAft>
                <a:spcPts val="1500"/>
              </a:spcAft>
              <a:defRPr sz="1800">
                <a:solidFill>
                  <a:srgbClr val="0E1F35"/>
                </a:solidFill>
                <a:latin typeface="맑은 고딕"/>
              </a:defRPr>
            </a:pPr>
            <a:r>
              <a:t>파일명에 배차일을 포함하고 CSV·Excel 두 형식 지원</a:t>
            </a:r>
          </a:p>
          <a:p>
            <a:pPr>
              <a:spcAft>
                <a:spcPts val="1500"/>
              </a:spcAft>
              <a:defRPr sz="1800">
                <a:solidFill>
                  <a:srgbClr val="0E1F35"/>
                </a:solidFill>
                <a:latin typeface="맑은 고딕"/>
              </a:defRPr>
            </a:pPr>
            <a:r>
              <a:t>사원번호 자리수·숫자 검증, 차량 중복·예비차량·덮어쓰기 처리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E1F35"/>
                </a:solidFill>
                <a:latin typeface="맑은 고딕"/>
              </a:defRPr>
            </a:pPr>
            <a:r>
              <a:t>10. 실제 사용화면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06C7A"/>
                </a:solidFill>
                <a:latin typeface="맑은 고딕"/>
              </a:defRPr>
            </a:pPr>
            <a:r>
              <a:t>발표 직전 Streamlit 화면 캡처를 아래 영역에 교체 삽입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06C7A"/>
                </a:solidFill>
                <a:latin typeface="맑은 고딕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744200" cy="4526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06324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606C7A"/>
                </a:solidFill>
                <a:latin typeface="맑은 고딕"/>
              </a:defRPr>
            </a:pPr>
            <a:r>
              <a:t>[ Streamlit 운행 정보 화면 스크린샷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7947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6C7A"/>
                </a:solidFill>
                <a:latin typeface="맑은 고딕"/>
              </a:defRPr>
            </a:pPr>
            <a:r>
              <a:t>권장 캡처: 운행 정보 + 충전 추천 + 운행시간 + 예측 신뢰 지표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E1F35"/>
                </a:solidFill>
                <a:latin typeface="맑은 고딕"/>
              </a:defRPr>
            </a:pPr>
            <a:r>
              <a:t>11. 기대 효과 및 확장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06C7A"/>
                </a:solidFill>
                <a:latin typeface="맑은 고딕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0E1F35"/>
                </a:solidFill>
                <a:latin typeface="맑은 고딕"/>
              </a:defRPr>
            </a:pPr>
            <a:r>
              <a:t>배차 전에 차량 조건과 배터리 도착 가능성을 빠르게 확인</a:t>
            </a:r>
          </a:p>
          <a:p>
            <a:pPr>
              <a:spcAft>
                <a:spcPts val="1500"/>
              </a:spcAft>
              <a:defRPr sz="1900">
                <a:solidFill>
                  <a:srgbClr val="0E1F35"/>
                </a:solidFill>
                <a:latin typeface="맑은 고딕"/>
              </a:defRPr>
            </a:pPr>
            <a:r>
              <a:t>구간별 경사와 거리 기반 예측으로 위험 구간과 충전 필요성 파악</a:t>
            </a:r>
          </a:p>
          <a:p>
            <a:pPr>
              <a:spcAft>
                <a:spcPts val="1500"/>
              </a:spcAft>
              <a:defRPr sz="1900">
                <a:solidFill>
                  <a:srgbClr val="0E1F35"/>
                </a:solidFill>
                <a:latin typeface="맑은 고딕"/>
              </a:defRPr>
            </a:pPr>
            <a:r>
              <a:t>반복 학습 없이 저장 모델을 사용해 빠른 서비스 응답 제공</a:t>
            </a:r>
          </a:p>
          <a:p>
            <a:pPr>
              <a:spcAft>
                <a:spcPts val="1500"/>
              </a:spcAft>
              <a:defRPr sz="1900">
                <a:solidFill>
                  <a:srgbClr val="0E1F35"/>
                </a:solidFill>
                <a:latin typeface="맑은 고딕"/>
              </a:defRPr>
            </a:pPr>
            <a:r>
              <a:t>향후 실차 운행 로그·실시간 교통·충전소 혼잡 데이터로 고도화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